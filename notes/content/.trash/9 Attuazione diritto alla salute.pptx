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4" r:id="rId4"/>
    <p:sldMasterId id="2147483675" r:id="rId5"/>
    <p:sldMasterId id="2147483676" r:id="rId6"/>
    <p:sldMasterId id="2147483677" r:id="rId7"/>
    <p:sldMasterId id="2147483678" r:id="rId8"/>
    <p:sldMasterId id="2147483679" r:id="rId9"/>
    <p:sldMasterId id="2147483680" r:id="rId10"/>
    <p:sldMasterId id="2147483681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20" Type="http://schemas.openxmlformats.org/officeDocument/2006/relationships/slide" Target="slides/slide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22" Type="http://schemas.openxmlformats.org/officeDocument/2006/relationships/slide" Target="slides/slide10.xml"/><Relationship Id="rId44" Type="http://schemas.openxmlformats.org/officeDocument/2006/relationships/slide" Target="slides/slide32.xml"/><Relationship Id="rId21" Type="http://schemas.openxmlformats.org/officeDocument/2006/relationships/slide" Target="slides/slide9.xml"/><Relationship Id="rId43" Type="http://schemas.openxmlformats.org/officeDocument/2006/relationships/slide" Target="slides/slide31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45" Type="http://schemas.openxmlformats.org/officeDocument/2006/relationships/slide" Target="slides/slide33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33" Type="http://schemas.openxmlformats.org/officeDocument/2006/relationships/slide" Target="slides/slide21.xml"/><Relationship Id="rId10" Type="http://schemas.openxmlformats.org/officeDocument/2006/relationships/slideMaster" Target="slideMasters/slideMaster7.xml"/><Relationship Id="rId32" Type="http://schemas.openxmlformats.org/officeDocument/2006/relationships/slide" Target="slides/slide20.xml"/><Relationship Id="rId13" Type="http://schemas.openxmlformats.org/officeDocument/2006/relationships/slide" Target="slides/slide1.xml"/><Relationship Id="rId35" Type="http://schemas.openxmlformats.org/officeDocument/2006/relationships/slide" Target="slides/slide23.xml"/><Relationship Id="rId12" Type="http://schemas.openxmlformats.org/officeDocument/2006/relationships/notesMaster" Target="notesMasters/notesMaster1.xml"/><Relationship Id="rId34" Type="http://schemas.openxmlformats.org/officeDocument/2006/relationships/slide" Target="slides/slide22.xml"/><Relationship Id="rId15" Type="http://schemas.openxmlformats.org/officeDocument/2006/relationships/slide" Target="slides/slide3.xml"/><Relationship Id="rId37" Type="http://schemas.openxmlformats.org/officeDocument/2006/relationships/slide" Target="slides/slide25.xml"/><Relationship Id="rId14" Type="http://schemas.openxmlformats.org/officeDocument/2006/relationships/slide" Target="slides/slide2.xml"/><Relationship Id="rId36" Type="http://schemas.openxmlformats.org/officeDocument/2006/relationships/slide" Target="slides/slide24.xml"/><Relationship Id="rId17" Type="http://schemas.openxmlformats.org/officeDocument/2006/relationships/slide" Target="slides/slide5.xml"/><Relationship Id="rId39" Type="http://schemas.openxmlformats.org/officeDocument/2006/relationships/slide" Target="slides/slide27.xml"/><Relationship Id="rId16" Type="http://schemas.openxmlformats.org/officeDocument/2006/relationships/slide" Target="slides/slide4.xml"/><Relationship Id="rId38" Type="http://schemas.openxmlformats.org/officeDocument/2006/relationships/slide" Target="slides/slide26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6" name="Google Shape;1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7" name="Google Shape;31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6" name="Google Shape;3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0" name="Google Shape;3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95325" y="1989137"/>
            <a:ext cx="9001125" cy="287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95325" y="4868863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95326" y="1989137"/>
            <a:ext cx="6619874" cy="287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695326" y="4868863"/>
            <a:ext cx="6626012" cy="1439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7896224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o + 1 Immagine">
  <p:cSld name="Testo + 1 Immagin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95324" y="549275"/>
            <a:ext cx="9001125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695324" y="1989138"/>
            <a:ext cx="90011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o + 1 Immagine">
  <p:cSld name="1_Testo + 1 Immagin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95325" y="549275"/>
            <a:ext cx="504000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6096000" y="549275"/>
            <a:ext cx="5400675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a + didascalia">
  <p:cSld name="Immagina + didascali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>
            <p:ph idx="2" type="pic"/>
          </p:nvPr>
        </p:nvSpPr>
        <p:spPr>
          <a:xfrm>
            <a:off x="695326" y="549275"/>
            <a:ext cx="10801350" cy="482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95325" y="5373688"/>
            <a:ext cx="10801350" cy="935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etto + vuoto">
  <p:cSld name="Titoletto + vuoto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695325" y="548493"/>
            <a:ext cx="10801350" cy="467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etto + Immagine">
  <p:cSld name="Titoletto + Immagin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695325" y="1484313"/>
            <a:ext cx="10801350" cy="482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695325" y="548493"/>
            <a:ext cx="10801350" cy="467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onne Txt + Img">
  <p:cSld name="3 colonne Txt + Img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695325" y="1484313"/>
            <a:ext cx="3240000" cy="1945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95325" y="3855458"/>
            <a:ext cx="3240000" cy="2453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/>
          <p:nvPr>
            <p:ph idx="3" type="pic"/>
          </p:nvPr>
        </p:nvSpPr>
        <p:spPr>
          <a:xfrm>
            <a:off x="4495800" y="1484313"/>
            <a:ext cx="3240000" cy="1945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4495800" y="3855458"/>
            <a:ext cx="3240000" cy="2453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/>
          <p:nvPr>
            <p:ph idx="5" type="pic"/>
          </p:nvPr>
        </p:nvSpPr>
        <p:spPr>
          <a:xfrm>
            <a:off x="8257520" y="1484313"/>
            <a:ext cx="3240000" cy="1945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6" type="body"/>
          </p:nvPr>
        </p:nvSpPr>
        <p:spPr>
          <a:xfrm>
            <a:off x="8257520" y="3855458"/>
            <a:ext cx="3240000" cy="2453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7" type="body"/>
          </p:nvPr>
        </p:nvSpPr>
        <p:spPr>
          <a:xfrm>
            <a:off x="695325" y="548493"/>
            <a:ext cx="10801350" cy="467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o + 1 Immagine">
  <p:cSld name="2_Testo + 1 Immagin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695325" y="549275"/>
            <a:ext cx="5040000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2"/>
          <p:cNvSpPr/>
          <p:nvPr>
            <p:ph idx="2" type="pic"/>
          </p:nvPr>
        </p:nvSpPr>
        <p:spPr>
          <a:xfrm>
            <a:off x="6096000" y="549275"/>
            <a:ext cx="5400675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6" name="Google Shape;56;p12"/>
          <p:cNvSpPr txBox="1"/>
          <p:nvPr>
            <p:ph idx="3" type="body"/>
          </p:nvPr>
        </p:nvSpPr>
        <p:spPr>
          <a:xfrm>
            <a:off x="695325" y="1989138"/>
            <a:ext cx="504000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a">
  <p:cSld name="Tabella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95325" y="549275"/>
            <a:ext cx="5040000" cy="1439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456675" y="549276"/>
            <a:ext cx="5040000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tto chiave 02">
  <p:cSld name="Concetto chiave 0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695325" y="549275"/>
            <a:ext cx="108013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3920332" y="-1256506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>
  <p:cSld name="2_Title Slid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ctrTitle"/>
          </p:nvPr>
        </p:nvSpPr>
        <p:spPr>
          <a:xfrm>
            <a:off x="695325" y="1989137"/>
            <a:ext cx="9001125" cy="287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subTitle"/>
          </p:nvPr>
        </p:nvSpPr>
        <p:spPr>
          <a:xfrm>
            <a:off x="695325" y="4868863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itolo + Immagine">
  <p:cSld name="Capitolo + Immagine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695325" y="549275"/>
            <a:ext cx="4532809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05050"/>
              </a:buClr>
              <a:buSzPts val="4000"/>
              <a:buNone/>
              <a:defRPr b="1" sz="4000">
                <a:solidFill>
                  <a:srgbClr val="50505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pitolo + Immagine">
  <p:cSld name="1_Capitolo + Immagin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695325" y="549275"/>
            <a:ext cx="4532809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05050"/>
              </a:buClr>
              <a:buSzPts val="4000"/>
              <a:buNone/>
              <a:defRPr b="1" sz="4000">
                <a:solidFill>
                  <a:srgbClr val="50505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2"/>
          <p:cNvSpPr txBox="1"/>
          <p:nvPr>
            <p:ph idx="2" type="body"/>
          </p:nvPr>
        </p:nvSpPr>
        <p:spPr>
          <a:xfrm>
            <a:off x="6456675" y="549275"/>
            <a:ext cx="5040000" cy="5759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tto chiave 01">
  <p:cSld name="Concetto chiave 0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ctrTitle"/>
          </p:nvPr>
        </p:nvSpPr>
        <p:spPr>
          <a:xfrm>
            <a:off x="695325" y="549275"/>
            <a:ext cx="108013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solidFill>
                  <a:srgbClr val="50505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7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9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5325" y="549275"/>
            <a:ext cx="803275" cy="5889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5325" y="549275"/>
            <a:ext cx="803275" cy="58896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0" y="6019800"/>
            <a:ext cx="841375" cy="8413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825" y="6499225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10648950" y="6303962"/>
            <a:ext cx="185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95325" y="6308725"/>
            <a:ext cx="10696575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 salute: diritto della persona e della comunità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Verdana"/>
              <a:buNone/>
              <a:defRPr b="0" i="0" sz="1200" u="none">
                <a:solidFill>
                  <a:srgbClr val="898989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5325" y="549275"/>
            <a:ext cx="803275" cy="5889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/>
          <p:nvPr/>
        </p:nvSpPr>
        <p:spPr>
          <a:xfrm>
            <a:off x="0" y="6019800"/>
            <a:ext cx="841375" cy="8413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825" y="6499225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9"/>
          <p:cNvSpPr txBox="1"/>
          <p:nvPr/>
        </p:nvSpPr>
        <p:spPr>
          <a:xfrm>
            <a:off x="10648950" y="6303962"/>
            <a:ext cx="185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29"/>
          <p:cNvSpPr txBox="1"/>
          <p:nvPr/>
        </p:nvSpPr>
        <p:spPr>
          <a:xfrm>
            <a:off x="695325" y="6308725"/>
            <a:ext cx="10696575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 salute: diritto della persona e della comunità</a:t>
            </a:r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/>
          <p:nvPr/>
        </p:nvSpPr>
        <p:spPr>
          <a:xfrm>
            <a:off x="0" y="6019800"/>
            <a:ext cx="841375" cy="8413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6" name="Google Shape;156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825" y="6499225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1"/>
          <p:cNvSpPr txBox="1"/>
          <p:nvPr/>
        </p:nvSpPr>
        <p:spPr>
          <a:xfrm>
            <a:off x="10648950" y="6303962"/>
            <a:ext cx="185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31"/>
          <p:cNvSpPr txBox="1"/>
          <p:nvPr/>
        </p:nvSpPr>
        <p:spPr>
          <a:xfrm>
            <a:off x="695325" y="6308725"/>
            <a:ext cx="10696575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 salute: diritto della persona e della comunità</a:t>
            </a:r>
            <a:endParaRPr/>
          </a:p>
        </p:txBody>
      </p:sp>
      <p:sp>
        <p:nvSpPr>
          <p:cNvPr id="159" name="Google Shape;159;p31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0" name="Google Shape;160;p3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/>
          <p:nvPr/>
        </p:nvSpPr>
        <p:spPr>
          <a:xfrm>
            <a:off x="0" y="6019800"/>
            <a:ext cx="841375" cy="8413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825" y="6499225"/>
            <a:ext cx="323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10648950" y="6303962"/>
            <a:ext cx="185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695325" y="6308725"/>
            <a:ext cx="10696575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 salute: diritto della persona e della comunità</a:t>
            </a:r>
            <a:endParaRPr/>
          </a:p>
        </p:txBody>
      </p:sp>
      <p:sp>
        <p:nvSpPr>
          <p:cNvPr id="170" name="Google Shape;170;p3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73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ctrTitle"/>
          </p:nvPr>
        </p:nvSpPr>
        <p:spPr>
          <a:xfrm>
            <a:off x="695325" y="1989137"/>
            <a:ext cx="90011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</a:pPr>
            <a:r>
              <a:rPr b="1" i="0" lang="en-US" sz="6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La salute: diritto della persona </a:t>
            </a:r>
            <a:br>
              <a:rPr b="1" i="0" lang="en-US" sz="6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6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 della comunità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Verdana"/>
              <a:buNone/>
            </a:pP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Il Servizio sanitario</a:t>
            </a:r>
            <a:b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nazionale</a:t>
            </a:r>
            <a:endParaRPr/>
          </a:p>
        </p:txBody>
      </p:sp>
      <p:sp>
        <p:nvSpPr>
          <p:cNvPr id="186" name="Google Shape;186;p36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persona, interni, lavorando&#10;&#10;Descrizione generata automaticamente" id="187" name="Google Shape;187;p36"/>
          <p:cNvPicPr preferRelativeResize="0"/>
          <p:nvPr/>
        </p:nvPicPr>
        <p:blipFill rotWithShape="1">
          <a:blip r:embed="rId3">
            <a:alphaModFix/>
          </a:blip>
          <a:srcRect b="0" l="12048" r="0" t="0"/>
          <a:stretch/>
        </p:blipFill>
        <p:spPr>
          <a:xfrm>
            <a:off x="7904162" y="0"/>
            <a:ext cx="4295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La tutela della salute nella Costituzione</a:t>
            </a:r>
            <a:endParaRPr/>
          </a:p>
        </p:txBody>
      </p:sp>
      <p:sp>
        <p:nvSpPr>
          <p:cNvPr id="193" name="Google Shape;193;p37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salute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è una condizione di benessere psicofisico che consente all’individuo di integrarsi nel suo ambiente naturale e sociale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riceve una specifica tutela da parte dell’ordinamento.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695325" y="549275"/>
            <a:ext cx="61531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diritto alla salute 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è garantito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dalla legge e dal Servizio sanitario nazionale, che assicura un accesso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ai servizi nel rispetto dei princìpi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della dignità della persona, dei bisogni di salute e di equità. Le prestazioni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e i servizi erogati rappresentano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livello essenziale garantito a tutti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 cittadini che le Regioni devono assicurare.</a:t>
            </a:r>
            <a:endParaRPr/>
          </a:p>
        </p:txBody>
      </p:sp>
      <p:pic>
        <p:nvPicPr>
          <p:cNvPr descr="Immagine che contiene persona, interni, preparato&#10;&#10;Descrizione generata automaticamente" id="199" name="Google Shape;1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 principi ispiratori del Servizio sanitario nazionale</a:t>
            </a:r>
            <a:endParaRPr/>
          </a:p>
        </p:txBody>
      </p:sp>
      <p:sp>
        <p:nvSpPr>
          <p:cNvPr id="205" name="Google Shape;205;p39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UNIVERSALITÀ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le prestazioni sanitarie sono garantite a tutta la popolazione da strutture diffuse su tutto il territorio (Usl).</a:t>
            </a:r>
            <a:endParaRPr/>
          </a:p>
          <a:p>
            <a:pPr indent="-342900" lvl="0" marL="3429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UGUAGLIANZA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tutti hanno il diritto a ricevere prestazioni sanitarie senza distinzioni.</a:t>
            </a:r>
            <a:endParaRPr/>
          </a:p>
          <a:p>
            <a:pPr indent="-342900" lvl="0" marL="3429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EQUITÀ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parità di accesso ai servizi in rapporto alla salute.</a:t>
            </a:r>
            <a:endParaRPr/>
          </a:p>
          <a:p>
            <a:pPr indent="-342900" lvl="0" marL="3429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GLOBALITÀ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collegamento di tutti i servizi sanitari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prevenzione, cura e riabilitazione in considerazione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della persona nella sua globalità.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L’aziendalizzazione del servizio sanitario</a:t>
            </a:r>
            <a:endParaRPr/>
          </a:p>
        </p:txBody>
      </p:sp>
      <p:sp>
        <p:nvSpPr>
          <p:cNvPr id="211" name="Google Shape;211;p40"/>
          <p:cNvSpPr txBox="1"/>
          <p:nvPr/>
        </p:nvSpPr>
        <p:spPr>
          <a:xfrm>
            <a:off x="4491037" y="1731962"/>
            <a:ext cx="3209925" cy="876300"/>
          </a:xfrm>
          <a:prstGeom prst="rect">
            <a:avLst/>
          </a:prstGeom>
          <a:solidFill>
            <a:srgbClr val="FDC3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AZIENDA SANITARIA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LOCALE</a:t>
            </a: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695325" y="3730625"/>
            <a:ext cx="3038475" cy="1960562"/>
          </a:xfrm>
          <a:prstGeom prst="rect">
            <a:avLst/>
          </a:prstGeom>
          <a:solidFill>
            <a:srgbClr val="FDC326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Azienda dotata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personalità giuridica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pubblica</a:t>
            </a: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4267200" y="3725862"/>
            <a:ext cx="3657600" cy="1958975"/>
          </a:xfrm>
          <a:prstGeom prst="rect">
            <a:avLst/>
          </a:prstGeom>
          <a:solidFill>
            <a:srgbClr val="FDC326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Autonomia organizzativa,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amministrativa,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patrimoniale, contabile,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gestionale e tecnica</a:t>
            </a:r>
            <a:endParaRPr/>
          </a:p>
        </p:txBody>
      </p:sp>
      <p:sp>
        <p:nvSpPr>
          <p:cNvPr id="214" name="Google Shape;214;p40"/>
          <p:cNvSpPr txBox="1"/>
          <p:nvPr/>
        </p:nvSpPr>
        <p:spPr>
          <a:xfrm>
            <a:off x="8320087" y="3730625"/>
            <a:ext cx="3124200" cy="1954212"/>
          </a:xfrm>
          <a:prstGeom prst="rect">
            <a:avLst/>
          </a:prstGeom>
          <a:solidFill>
            <a:srgbClr val="FDC326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Direzione affidata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un direttore generale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nominato dalla Regione,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affiancato dal direttore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sanitario e dal direttore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amministrativo</a:t>
            </a:r>
            <a:endParaRPr/>
          </a:p>
        </p:txBody>
      </p:sp>
      <p:cxnSp>
        <p:nvCxnSpPr>
          <p:cNvPr id="215" name="Google Shape;215;p40"/>
          <p:cNvCxnSpPr/>
          <p:nvPr/>
        </p:nvCxnSpPr>
        <p:spPr>
          <a:xfrm flipH="1">
            <a:off x="2214600" y="2608263"/>
            <a:ext cx="3881400" cy="1122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6" name="Google Shape;216;p40"/>
          <p:cNvCxnSpPr/>
          <p:nvPr/>
        </p:nvCxnSpPr>
        <p:spPr>
          <a:xfrm>
            <a:off x="6096000" y="2608262"/>
            <a:ext cx="0" cy="1117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7" name="Google Shape;217;p40"/>
          <p:cNvCxnSpPr/>
          <p:nvPr/>
        </p:nvCxnSpPr>
        <p:spPr>
          <a:xfrm>
            <a:off x="6096000" y="2608263"/>
            <a:ext cx="3786300" cy="1122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Verdana"/>
              <a:buNone/>
            </a:pP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Programmazione</a:t>
            </a:r>
            <a:b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 finanziamento</a:t>
            </a:r>
            <a:b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del sistema sanitario</a:t>
            </a:r>
            <a:endParaRPr/>
          </a:p>
        </p:txBody>
      </p:sp>
      <p:sp>
        <p:nvSpPr>
          <p:cNvPr id="224" name="Google Shape;224;p41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interni, giocattolo&#10;&#10;Descrizione generata automaticamente" id="225" name="Google Shape;225;p41"/>
          <p:cNvPicPr preferRelativeResize="0"/>
          <p:nvPr/>
        </p:nvPicPr>
        <p:blipFill rotWithShape="1">
          <a:blip r:embed="rId3">
            <a:alphaModFix/>
          </a:blip>
          <a:srcRect b="0" l="2702" r="3247" t="0"/>
          <a:stretch/>
        </p:blipFill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 livelli essenziali di assistenza</a:t>
            </a:r>
            <a:endParaRPr/>
          </a:p>
        </p:txBody>
      </p:sp>
      <p:sp>
        <p:nvSpPr>
          <p:cNvPr id="231" name="Google Shape;231;p42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Secondo il d.lgs. 502/1992, il Servizio sanitario nazionale assicura, attraverso le risorse finanziarie pubbliche, i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Livelli essenziali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uniformi di assistenza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(Lea) definiti dal Piano sanitario nazionale. Essi costituiscono il livello minimo erogabile dal Ssn a tutti i cittadini su tutto il territorio nazionale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si riferiscono a tre aree (mostrate nello schema a lato).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magine che contiene parete, interni, persona, finestra&#10;&#10;Descrizione generata automaticamente" id="236" name="Google Shape;236;p43"/>
          <p:cNvPicPr preferRelativeResize="0"/>
          <p:nvPr/>
        </p:nvPicPr>
        <p:blipFill rotWithShape="1">
          <a:blip r:embed="rId3">
            <a:alphaModFix/>
          </a:blip>
          <a:srcRect b="0" l="13700" r="6367" t="0"/>
          <a:stretch/>
        </p:blipFill>
        <p:spPr>
          <a:xfrm>
            <a:off x="7546975" y="0"/>
            <a:ext cx="4645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3"/>
          <p:cNvSpPr txBox="1"/>
          <p:nvPr/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 livelli istituzionali del sistema </a:t>
            </a:r>
            <a:b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sanitario</a:t>
            </a:r>
            <a:endParaRPr/>
          </a:p>
        </p:txBody>
      </p:sp>
      <p:sp>
        <p:nvSpPr>
          <p:cNvPr id="238" name="Google Shape;238;p43"/>
          <p:cNvSpPr txBox="1"/>
          <p:nvPr/>
        </p:nvSpPr>
        <p:spPr>
          <a:xfrm>
            <a:off x="695325" y="1989137"/>
            <a:ext cx="6064250" cy="348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livello centrale, il Governo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definisce le linee generali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indirizzo e di svolgimento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delle attività sanitarie, i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Livelli essenziali di assistenza </a:t>
            </a:r>
            <a:b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le linee guida per i percorsi diagnostici e terapeutici.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695325" y="549275"/>
            <a:ext cx="61531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 livello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regionale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, il Consiglio regionale definisce gli interventi finalizzati a garantire gli obiettivi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 salute mediante lo sviluppo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della rete sul territorio.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Inoltre la Regione finanzia, regolamenta e coordina le Asl.</a:t>
            </a:r>
            <a:endParaRPr/>
          </a:p>
        </p:txBody>
      </p:sp>
      <p:pic>
        <p:nvPicPr>
          <p:cNvPr descr="Immagine che contiene persona, interni, bisca&#10;&#10;Descrizione generata automaticamente" id="244" name="Google Shape;2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8887" y="0"/>
            <a:ext cx="4583112" cy="6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idx="1" type="body"/>
          </p:nvPr>
        </p:nvSpPr>
        <p:spPr>
          <a:xfrm>
            <a:off x="695325" y="549275"/>
            <a:ext cx="61531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Infine, a livello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locale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, attraverso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documento di programmazione,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ogni Azienda sanitaria (Asl e Azienda ospedaliera) attua gli indirizzi generali stabiliti dai Piani sanitari nazionali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e regionali.</a:t>
            </a:r>
            <a:endParaRPr/>
          </a:p>
        </p:txBody>
      </p:sp>
      <p:pic>
        <p:nvPicPr>
          <p:cNvPr descr="Immagine che contiene testo, tavolo, persona, interni&#10;&#10;Descrizione generata automaticamente" id="250" name="Google Shape;250;p45"/>
          <p:cNvPicPr preferRelativeResize="0"/>
          <p:nvPr/>
        </p:nvPicPr>
        <p:blipFill rotWithShape="1">
          <a:blip r:embed="rId3">
            <a:alphaModFix/>
          </a:blip>
          <a:srcRect b="0" l="4798" r="3224" t="0"/>
          <a:stretch/>
        </p:blipFill>
        <p:spPr>
          <a:xfrm>
            <a:off x="7473950" y="0"/>
            <a:ext cx="471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6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Verdana"/>
              <a:buNone/>
            </a:pP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L’organizzazione</a:t>
            </a:r>
            <a:b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dell’azienda sanitaria</a:t>
            </a:r>
            <a:endParaRPr/>
          </a:p>
        </p:txBody>
      </p:sp>
      <p:sp>
        <p:nvSpPr>
          <p:cNvPr id="257" name="Google Shape;257;p46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persona&#10;&#10;Descrizione generata automaticamente" id="258" name="Google Shape;258;p46"/>
          <p:cNvPicPr preferRelativeResize="0"/>
          <p:nvPr/>
        </p:nvPicPr>
        <p:blipFill rotWithShape="1">
          <a:blip r:embed="rId3">
            <a:alphaModFix/>
          </a:blip>
          <a:srcRect b="0" l="4298" r="4298" t="0"/>
          <a:stretch/>
        </p:blipFill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Gli organi dell’Azienda sanitaria locale</a:t>
            </a:r>
            <a:endParaRPr/>
          </a:p>
        </p:txBody>
      </p:sp>
      <p:sp>
        <p:nvSpPr>
          <p:cNvPr id="264" name="Google Shape;264;p47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L’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Azienda sanitaria locale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(Asl) provvede all’erogazione dell’assistenza sanitaria a tutela della salute della popolazione residente sul territorio, garantisce i livelli di assistenza e gestisce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servizi sanitari a livello territoriale attraverso i propri organi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le proprie strutture operative.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695325" y="549275"/>
            <a:ext cx="61531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direttore generale 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è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rappresentante legale dell’Asl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ed esercita poteri di gestione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e di verifica; è nominato dalla Regione e deve essere in possesso di precisi requisiti, come la laurea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e un’esperienza di almeno cinque anni di direzione tecnica o amministrativa in enti, aziende o strutture pubbliche o private.</a:t>
            </a:r>
            <a:endParaRPr/>
          </a:p>
        </p:txBody>
      </p:sp>
      <p:pic>
        <p:nvPicPr>
          <p:cNvPr descr="Immagine che contiene persona, interni&#10;&#10;Descrizione generata automaticamente" id="270" name="Google Shape;270;p48"/>
          <p:cNvPicPr preferRelativeResize="0"/>
          <p:nvPr/>
        </p:nvPicPr>
        <p:blipFill rotWithShape="1">
          <a:blip r:embed="rId3">
            <a:alphaModFix/>
          </a:blip>
          <a:srcRect b="0" l="34414" r="0" t="0"/>
          <a:stretch/>
        </p:blipFill>
        <p:spPr>
          <a:xfrm>
            <a:off x="7788275" y="0"/>
            <a:ext cx="4403725" cy="68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/>
        </p:nvSpPr>
        <p:spPr>
          <a:xfrm>
            <a:off x="4491037" y="822325"/>
            <a:ext cx="3209925" cy="876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AZIENDA SANITARIA LOCALE</a:t>
            </a:r>
            <a:endParaRPr/>
          </a:p>
        </p:txBody>
      </p:sp>
      <p:sp>
        <p:nvSpPr>
          <p:cNvPr id="276" name="Google Shape;276;p49"/>
          <p:cNvSpPr txBox="1"/>
          <p:nvPr/>
        </p:nvSpPr>
        <p:spPr>
          <a:xfrm>
            <a:off x="2352675" y="2463800"/>
            <a:ext cx="1931987" cy="668337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</a:t>
            </a:r>
            <a:endParaRPr/>
          </a:p>
        </p:txBody>
      </p:sp>
      <p:sp>
        <p:nvSpPr>
          <p:cNvPr id="277" name="Google Shape;277;p49"/>
          <p:cNvSpPr txBox="1"/>
          <p:nvPr/>
        </p:nvSpPr>
        <p:spPr>
          <a:xfrm>
            <a:off x="814387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Direttore generale</a:t>
            </a:r>
            <a:endParaRPr/>
          </a:p>
        </p:txBody>
      </p:sp>
      <p:sp>
        <p:nvSpPr>
          <p:cNvPr id="278" name="Google Shape;278;p49"/>
          <p:cNvSpPr txBox="1"/>
          <p:nvPr/>
        </p:nvSpPr>
        <p:spPr>
          <a:xfrm>
            <a:off x="2513012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Collegio sindacale</a:t>
            </a:r>
            <a:endParaRPr/>
          </a:p>
        </p:txBody>
      </p:sp>
      <p:sp>
        <p:nvSpPr>
          <p:cNvPr id="279" name="Google Shape;279;p49"/>
          <p:cNvSpPr txBox="1"/>
          <p:nvPr/>
        </p:nvSpPr>
        <p:spPr>
          <a:xfrm>
            <a:off x="4211637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Collegio di direzione</a:t>
            </a:r>
            <a:endParaRPr/>
          </a:p>
        </p:txBody>
      </p:sp>
      <p:sp>
        <p:nvSpPr>
          <p:cNvPr id="280" name="Google Shape;280;p49"/>
          <p:cNvSpPr txBox="1"/>
          <p:nvPr/>
        </p:nvSpPr>
        <p:spPr>
          <a:xfrm>
            <a:off x="7591425" y="2463800"/>
            <a:ext cx="2565400" cy="668337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Strutture operative</a:t>
            </a:r>
            <a:endParaRPr/>
          </a:p>
        </p:txBody>
      </p:sp>
      <p:sp>
        <p:nvSpPr>
          <p:cNvPr id="281" name="Google Shape;281;p49"/>
          <p:cNvSpPr txBox="1"/>
          <p:nvPr/>
        </p:nvSpPr>
        <p:spPr>
          <a:xfrm>
            <a:off x="6370637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Distretto</a:t>
            </a:r>
            <a:endParaRPr/>
          </a:p>
        </p:txBody>
      </p:sp>
      <p:sp>
        <p:nvSpPr>
          <p:cNvPr id="282" name="Google Shape;282;p49"/>
          <p:cNvSpPr txBox="1"/>
          <p:nvPr/>
        </p:nvSpPr>
        <p:spPr>
          <a:xfrm>
            <a:off x="8069262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Dipartimento</a:t>
            </a:r>
            <a:endParaRPr/>
          </a:p>
        </p:txBody>
      </p:sp>
      <p:sp>
        <p:nvSpPr>
          <p:cNvPr id="283" name="Google Shape;283;p49"/>
          <p:cNvSpPr txBox="1"/>
          <p:nvPr/>
        </p:nvSpPr>
        <p:spPr>
          <a:xfrm>
            <a:off x="9767887" y="3725862"/>
            <a:ext cx="1609725" cy="66833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Presidio ospedaliero</a:t>
            </a:r>
            <a:endParaRPr/>
          </a:p>
        </p:txBody>
      </p:sp>
      <p:cxnSp>
        <p:nvCxnSpPr>
          <p:cNvPr id="284" name="Google Shape;284;p49"/>
          <p:cNvCxnSpPr/>
          <p:nvPr/>
        </p:nvCxnSpPr>
        <p:spPr>
          <a:xfrm flipH="1">
            <a:off x="3318000" y="1698625"/>
            <a:ext cx="2778000" cy="765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5" name="Google Shape;285;p49"/>
          <p:cNvCxnSpPr/>
          <p:nvPr/>
        </p:nvCxnSpPr>
        <p:spPr>
          <a:xfrm flipH="1">
            <a:off x="1619275" y="3132137"/>
            <a:ext cx="1698600" cy="5937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6" name="Google Shape;286;p49"/>
          <p:cNvCxnSpPr/>
          <p:nvPr/>
        </p:nvCxnSpPr>
        <p:spPr>
          <a:xfrm>
            <a:off x="3317875" y="3132137"/>
            <a:ext cx="1698600" cy="5937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7" name="Google Shape;287;p49"/>
          <p:cNvCxnSpPr/>
          <p:nvPr/>
        </p:nvCxnSpPr>
        <p:spPr>
          <a:xfrm>
            <a:off x="3317875" y="3132137"/>
            <a:ext cx="0" cy="593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8" name="Google Shape;288;p49"/>
          <p:cNvCxnSpPr/>
          <p:nvPr/>
        </p:nvCxnSpPr>
        <p:spPr>
          <a:xfrm>
            <a:off x="6096000" y="1698625"/>
            <a:ext cx="2778000" cy="765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9" name="Google Shape;289;p49"/>
          <p:cNvCxnSpPr/>
          <p:nvPr/>
        </p:nvCxnSpPr>
        <p:spPr>
          <a:xfrm flipH="1">
            <a:off x="7175525" y="3132137"/>
            <a:ext cx="1698600" cy="5937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0" name="Google Shape;290;p49"/>
          <p:cNvCxnSpPr/>
          <p:nvPr/>
        </p:nvCxnSpPr>
        <p:spPr>
          <a:xfrm>
            <a:off x="8874125" y="3132137"/>
            <a:ext cx="1698600" cy="5937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1" name="Google Shape;291;p49"/>
          <p:cNvCxnSpPr/>
          <p:nvPr/>
        </p:nvCxnSpPr>
        <p:spPr>
          <a:xfrm>
            <a:off x="8874125" y="3132137"/>
            <a:ext cx="0" cy="593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Le strutture operative dell’azienda sanitaria locale</a:t>
            </a:r>
            <a:endParaRPr/>
          </a:p>
        </p:txBody>
      </p:sp>
      <p:sp>
        <p:nvSpPr>
          <p:cNvPr id="297" name="Google Shape;297;p50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Distretto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è l’articolazione territoriale e organizzativa dell’Asl, che svolge le attività finalizzate alla promozione della salute,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alla prevenzione, alla cura e alla riabilitazione, tramite la gestione integrata delle risorse dell’Asl e degli enti locali.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1"/>
          <p:cNvSpPr txBox="1"/>
          <p:nvPr>
            <p:ph idx="1" type="body"/>
          </p:nvPr>
        </p:nvSpPr>
        <p:spPr>
          <a:xfrm>
            <a:off x="695325" y="549275"/>
            <a:ext cx="10456862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Dipartimento delle cure primarie 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è lo strumento organizzativo che gestisce l’erogazione dell’assistenza sanitaria 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 tutta la popolazione di riferimento.</a:t>
            </a:r>
            <a:b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Dipartimento di salute mentale e dipendenze patologiche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 gestisce le attività di tutela della salute mentale e del benessere psicologico per limitare gli effetti di esclusione sociale determinati dai disturbi psichici.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idx="1" type="body"/>
          </p:nvPr>
        </p:nvSpPr>
        <p:spPr>
          <a:xfrm>
            <a:off x="695325" y="549275"/>
            <a:ext cx="61531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Dipartimento di prevenzione </a:t>
            </a:r>
            <a:r>
              <a:rPr b="0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garantisce la tutela della salute collettiva, persegue obiettivi di promozione della salute e prevenzione delle malattie, mette in atto interventi per individuare e rimuovere le cause di nocività e di malattie di origine ambientale, umana e animale.</a:t>
            </a:r>
            <a:endParaRPr/>
          </a:p>
        </p:txBody>
      </p:sp>
      <p:pic>
        <p:nvPicPr>
          <p:cNvPr descr="Immagine che contiene persona, esterni, blu&#10;&#10;Descrizione generata automaticamente" id="308" name="Google Shape;308;p52"/>
          <p:cNvPicPr preferRelativeResize="0"/>
          <p:nvPr/>
        </p:nvPicPr>
        <p:blipFill rotWithShape="1">
          <a:blip r:embed="rId3">
            <a:alphaModFix/>
          </a:blip>
          <a:srcRect b="0" l="4104" r="3449" t="0"/>
          <a:stretch/>
        </p:blipFill>
        <p:spPr>
          <a:xfrm>
            <a:off x="7962900" y="-11112"/>
            <a:ext cx="4229100" cy="686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L’assistenza ospedaliera</a:t>
            </a:r>
            <a:endParaRPr/>
          </a:p>
        </p:txBody>
      </p:sp>
      <p:sp>
        <p:nvSpPr>
          <p:cNvPr id="314" name="Google Shape;314;p53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L’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assistenza ospedaliera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è garantita da diverse tipologie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strutture: Ospedali non costituiti in azienda; Aziende ospedaliere, Aziende ospedaliere-universitarie, Istituti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ricovero e cura a carattere scientifico, istituti privati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accreditati.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Verdana"/>
              <a:buNone/>
            </a:pP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La centralità</a:t>
            </a:r>
            <a:b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della persona </a:t>
            </a:r>
            <a:b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nel Ssn</a:t>
            </a:r>
            <a:endParaRPr/>
          </a:p>
        </p:txBody>
      </p:sp>
      <p:sp>
        <p:nvSpPr>
          <p:cNvPr id="321" name="Google Shape;321;p54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persona, ragazzo, giovane&#10;&#10;Descrizione generata automaticamente" id="322" name="Google Shape;322;p54"/>
          <p:cNvPicPr preferRelativeResize="0"/>
          <p:nvPr/>
        </p:nvPicPr>
        <p:blipFill rotWithShape="1">
          <a:blip r:embed="rId3">
            <a:alphaModFix/>
          </a:blip>
          <a:srcRect b="0" l="0" r="6041" t="0"/>
          <a:stretch/>
        </p:blipFill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5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 diritti del cittadino/utente dei servizi sanitari</a:t>
            </a:r>
            <a:endParaRPr/>
          </a:p>
        </p:txBody>
      </p:sp>
      <p:sp>
        <p:nvSpPr>
          <p:cNvPr id="328" name="Google Shape;328;p55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sistema sanitario si fonda sul principio di universalità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solidarietà: questo significa che le prestazioni sono destinate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tutti, attraverso l’organizzazione sull’intero territorio nazionale dei servizi erogati dalle Aziende sanitarie locali, dalle Aziende ospedaliere e dalle strutture private convenzionate con il Ssn.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6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L’iscrizione al Servizio sanitario nazionale</a:t>
            </a:r>
            <a:endParaRPr/>
          </a:p>
        </p:txBody>
      </p:sp>
      <p:sp>
        <p:nvSpPr>
          <p:cNvPr id="334" name="Google Shape;334;p56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l’importanza primaria del diritto alla salute, la sua tutela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non è condizionata dal possesso della cittadinanza italiana,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viene estesa a chiunque abbia bisogno di cure sul territorio italiano. Ognuno ha diritto ad accedere ai servizi sanitari,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 i modi per accedervi sono diversi e sono diverse anche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 prestazioni erogabili.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7"/>
          <p:cNvSpPr txBox="1"/>
          <p:nvPr/>
        </p:nvSpPr>
        <p:spPr>
          <a:xfrm>
            <a:off x="4491037" y="822325"/>
            <a:ext cx="3209925" cy="876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ACCESSO AI SERVIZI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DEL SSN</a:t>
            </a:r>
            <a:endParaRPr/>
          </a:p>
        </p:txBody>
      </p:sp>
      <p:sp>
        <p:nvSpPr>
          <p:cNvPr id="340" name="Google Shape;340;p57"/>
          <p:cNvSpPr txBox="1"/>
          <p:nvPr/>
        </p:nvSpPr>
        <p:spPr>
          <a:xfrm>
            <a:off x="971550" y="2840037"/>
            <a:ext cx="1933575" cy="1422400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Cittadini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italiani</a:t>
            </a:r>
            <a:endParaRPr/>
          </a:p>
        </p:txBody>
      </p:sp>
      <p:cxnSp>
        <p:nvCxnSpPr>
          <p:cNvPr id="341" name="Google Shape;341;p57"/>
          <p:cNvCxnSpPr/>
          <p:nvPr/>
        </p:nvCxnSpPr>
        <p:spPr>
          <a:xfrm flipH="1">
            <a:off x="1938299" y="1698625"/>
            <a:ext cx="4157700" cy="11415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2" name="Google Shape;342;p57"/>
          <p:cNvSpPr txBox="1"/>
          <p:nvPr/>
        </p:nvSpPr>
        <p:spPr>
          <a:xfrm>
            <a:off x="3160712" y="2840037"/>
            <a:ext cx="2530475" cy="1422400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Cittadini stranieri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comunitari</a:t>
            </a:r>
            <a:endParaRPr/>
          </a:p>
        </p:txBody>
      </p:sp>
      <p:sp>
        <p:nvSpPr>
          <p:cNvPr id="343" name="Google Shape;343;p57"/>
          <p:cNvSpPr txBox="1"/>
          <p:nvPr/>
        </p:nvSpPr>
        <p:spPr>
          <a:xfrm>
            <a:off x="5969000" y="2840037"/>
            <a:ext cx="2530475" cy="1422400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Cittadini stranieri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extracomunitari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 permesso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soggiorno</a:t>
            </a:r>
            <a:endParaRPr/>
          </a:p>
        </p:txBody>
      </p:sp>
      <p:sp>
        <p:nvSpPr>
          <p:cNvPr id="344" name="Google Shape;344;p57"/>
          <p:cNvSpPr txBox="1"/>
          <p:nvPr/>
        </p:nvSpPr>
        <p:spPr>
          <a:xfrm>
            <a:off x="8785225" y="2840037"/>
            <a:ext cx="2530475" cy="1422400"/>
          </a:xfrm>
          <a:prstGeom prst="rect">
            <a:avLst/>
          </a:prstGeom>
          <a:solidFill>
            <a:srgbClr val="B5EB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Cittadini stranieri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extracomunitari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temporaneamente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presenti</a:t>
            </a:r>
            <a:endParaRPr/>
          </a:p>
        </p:txBody>
      </p:sp>
      <p:cxnSp>
        <p:nvCxnSpPr>
          <p:cNvPr id="345" name="Google Shape;345;p57"/>
          <p:cNvCxnSpPr/>
          <p:nvPr/>
        </p:nvCxnSpPr>
        <p:spPr>
          <a:xfrm flipH="1">
            <a:off x="4425899" y="1698625"/>
            <a:ext cx="1670100" cy="11415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6" name="Google Shape;346;p57"/>
          <p:cNvCxnSpPr/>
          <p:nvPr/>
        </p:nvCxnSpPr>
        <p:spPr>
          <a:xfrm flipH="1" rot="-5400000">
            <a:off x="6094350" y="1700274"/>
            <a:ext cx="1141500" cy="11382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47" name="Google Shape;347;p57"/>
          <p:cNvCxnSpPr/>
          <p:nvPr/>
        </p:nvCxnSpPr>
        <p:spPr>
          <a:xfrm>
            <a:off x="6096000" y="1698625"/>
            <a:ext cx="3954600" cy="11415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La Sanità privata</a:t>
            </a:r>
            <a:endParaRPr/>
          </a:p>
        </p:txBody>
      </p:sp>
      <p:sp>
        <p:nvSpPr>
          <p:cNvPr id="353" name="Google Shape;353;p58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terza riforma del Ssn ha introdotto il principio della libertà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scelta dell’utente fra strutture pubbliche e private, cioè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scegliere il luogo di cura: un ospedale pubblico o una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clinica privata convenzionata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 regole per l’accesso, la degenza e le dimissioni sono le stesse, e anche la gratuità dei servizi.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Verdana"/>
              <a:buNone/>
            </a:pP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La digitalizzazione</a:t>
            </a:r>
            <a:b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del Ssn</a:t>
            </a:r>
            <a:endParaRPr/>
          </a:p>
        </p:txBody>
      </p:sp>
      <p:sp>
        <p:nvSpPr>
          <p:cNvPr id="360" name="Google Shape;360;p59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testo, persona, interni, portatile&#10;&#10;Descrizione generata automaticamente" id="361" name="Google Shape;361;p59"/>
          <p:cNvPicPr preferRelativeResize="0"/>
          <p:nvPr/>
        </p:nvPicPr>
        <p:blipFill rotWithShape="1">
          <a:blip r:embed="rId3">
            <a:alphaModFix/>
          </a:blip>
          <a:srcRect b="0" l="9645" r="0" t="0"/>
          <a:stretch/>
        </p:blipFill>
        <p:spPr>
          <a:xfrm>
            <a:off x="7896225" y="0"/>
            <a:ext cx="4295775" cy="684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La telemedicina</a:t>
            </a:r>
            <a:endParaRPr/>
          </a:p>
        </p:txBody>
      </p:sp>
      <p:sp>
        <p:nvSpPr>
          <p:cNvPr id="367" name="Google Shape;367;p60"/>
          <p:cNvSpPr txBox="1"/>
          <p:nvPr/>
        </p:nvSpPr>
        <p:spPr>
          <a:xfrm>
            <a:off x="695325" y="1989137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telemedicina, </a:t>
            </a: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e-health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 anche </a:t>
            </a: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digital health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consiste nell’impiego delle tecnologie informatiche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di telecomunicazione (Ict) per potenziare i servizi del sistema sanitario in termini di maggiore qualità, sicurezza e possibilità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 accesso alle cure.</a:t>
            </a:r>
            <a:endParaRPr/>
          </a:p>
        </p:txBody>
      </p:sp>
      <p:pic>
        <p:nvPicPr>
          <p:cNvPr descr="Immagine che contiene persona, uomo, interni, tavolo&#10;&#10;Descrizione generata automaticamente" id="368" name="Google Shape;36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7137" y="0"/>
            <a:ext cx="461486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Gli strumenti della sanità digitale</a:t>
            </a:r>
            <a:endParaRPr/>
          </a:p>
        </p:txBody>
      </p:sp>
      <p:sp>
        <p:nvSpPr>
          <p:cNvPr id="374" name="Google Shape;374;p61"/>
          <p:cNvSpPr txBox="1"/>
          <p:nvPr/>
        </p:nvSpPr>
        <p:spPr>
          <a:xfrm>
            <a:off x="695325" y="1989137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Fascicolo sanitario elettronico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è l’insieme dei dati e documenti digitali di tipo sanitario e socio-sanitario riguardanti un determinato paziente.</a:t>
            </a:r>
            <a:endParaRPr/>
          </a:p>
        </p:txBody>
      </p:sp>
      <p:pic>
        <p:nvPicPr>
          <p:cNvPr id="375" name="Google Shape;3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2"/>
          <p:cNvSpPr txBox="1"/>
          <p:nvPr/>
        </p:nvSpPr>
        <p:spPr>
          <a:xfrm>
            <a:off x="695325" y="593725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cartella clinica elettronica 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è un documento digitale che consente la gestione organizzata di tutti i dati clinici e relativi alle visite e agli esami cui è stato sottoposto l’utente nel corso del tempo all’interno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della struttura, che favorisce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 continuità assistenziale durante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percorso  di cura.</a:t>
            </a:r>
            <a:endParaRPr/>
          </a:p>
        </p:txBody>
      </p:sp>
      <p:pic>
        <p:nvPicPr>
          <p:cNvPr id="381" name="Google Shape;38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 txBox="1"/>
          <p:nvPr>
            <p:ph idx="1" type="body"/>
          </p:nvPr>
        </p:nvSpPr>
        <p:spPr>
          <a:xfrm>
            <a:off x="695325" y="549275"/>
            <a:ext cx="90011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b="1" i="0" lang="en-US" sz="2400" u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Sanità digitale e tutela della privacy</a:t>
            </a:r>
            <a:endParaRPr/>
          </a:p>
        </p:txBody>
      </p:sp>
      <p:sp>
        <p:nvSpPr>
          <p:cNvPr id="387" name="Google Shape;387;p63"/>
          <p:cNvSpPr txBox="1"/>
          <p:nvPr/>
        </p:nvSpPr>
        <p:spPr>
          <a:xfrm>
            <a:off x="695325" y="1989137"/>
            <a:ext cx="10428287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dati relativi alla salute, definiti dal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 data protection regulation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(Gdpr) sono soggetti a una tutela rafforzata,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quanto possono rivelare dettagli molto intimi della persona. 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Gdpr stabilisce che è legittimo il trattamento dei dati per finalità connesse alla salute (finalità di cura), per la supervisione del Ssn (finalità di governo) e per la ricerca nel pubblico interesse.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4"/>
          <p:cNvSpPr txBox="1"/>
          <p:nvPr>
            <p:ph type="ctrTitle"/>
          </p:nvPr>
        </p:nvSpPr>
        <p:spPr>
          <a:xfrm>
            <a:off x="695325" y="1831975"/>
            <a:ext cx="6619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Verdana"/>
              <a:buNone/>
            </a:pP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 6: l’acqua,</a:t>
            </a:r>
            <a:b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l’oro blu del millennio</a:t>
            </a:r>
            <a:endParaRPr/>
          </a:p>
        </p:txBody>
      </p:sp>
      <p:sp>
        <p:nvSpPr>
          <p:cNvPr id="394" name="Google Shape;394;p64"/>
          <p:cNvSpPr txBox="1"/>
          <p:nvPr>
            <p:ph idx="4294967295" type="body"/>
          </p:nvPr>
        </p:nvSpPr>
        <p:spPr>
          <a:xfrm>
            <a:off x="7896225" y="0"/>
            <a:ext cx="429577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Immagine che contiene cielo, esterni, vetro&#10;&#10;Descrizione generata automaticamente" id="395" name="Google Shape;395;p64"/>
          <p:cNvPicPr preferRelativeResize="0"/>
          <p:nvPr/>
        </p:nvPicPr>
        <p:blipFill rotWithShape="1">
          <a:blip r:embed="rId3">
            <a:alphaModFix/>
          </a:blip>
          <a:srcRect b="0" l="11914" r="0" t="0"/>
          <a:stretch/>
        </p:blipFill>
        <p:spPr>
          <a:xfrm>
            <a:off x="7896225" y="0"/>
            <a:ext cx="4295775" cy="68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5"/>
          <p:cNvSpPr txBox="1"/>
          <p:nvPr/>
        </p:nvSpPr>
        <p:spPr>
          <a:xfrm>
            <a:off x="695325" y="593725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Il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Goal 6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dell’Agenda 2030 ha come obiettivo garantire alle popolazioni la disponibilità di acqua pulita e adeguate strutture igienicosanitarie.</a:t>
            </a:r>
            <a:endParaRPr/>
          </a:p>
        </p:txBody>
      </p:sp>
      <p:pic>
        <p:nvPicPr>
          <p:cNvPr descr="Immagine che contiene persona&#10;&#10;Descrizione generata automaticamente" id="401" name="Google Shape;40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350" y="0"/>
            <a:ext cx="44386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6"/>
          <p:cNvSpPr txBox="1"/>
          <p:nvPr/>
        </p:nvSpPr>
        <p:spPr>
          <a:xfrm>
            <a:off x="695325" y="593725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L’acqua è infatti un elemento naturale prezioso e fondamentale per assicurare la vita e la salute,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 anche una risorsa scarsa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causa di crisi idriche che colpiscono tutti i Paesi.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L’interdipendenza tra acqua, sanità e igiene è al centro dei programmi internazionali “Wash” per ridurre i rischi derivanti dall’utilizzo di acqua non sicura.</a:t>
            </a:r>
            <a:endParaRPr/>
          </a:p>
        </p:txBody>
      </p:sp>
      <p:pic>
        <p:nvPicPr>
          <p:cNvPr descr="Immagine che contiene persona&#10;&#10;Descrizione generata automaticamente" id="407" name="Google Shape;40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350" y="0"/>
            <a:ext cx="44386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7"/>
          <p:cNvSpPr txBox="1"/>
          <p:nvPr/>
        </p:nvSpPr>
        <p:spPr>
          <a:xfrm>
            <a:off x="695325" y="593725"/>
            <a:ext cx="5835650" cy="1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Italia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la sicurezza dell’acqua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è garantita dal 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Servizio idrico integrato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formato dagli organismi pubblici che si occupano di tutte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 fasi di gestione del ciclo idrico, </a:t>
            </a:r>
            <a:b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dal prelievo, alla distribuzione per usi civili e industriali.</a:t>
            </a:r>
            <a:endParaRPr/>
          </a:p>
        </p:txBody>
      </p:sp>
      <p:pic>
        <p:nvPicPr>
          <p:cNvPr descr="Immagine che contiene persona&#10;&#10;Descrizione generata automaticamente" id="413" name="Google Shape;41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350" y="0"/>
            <a:ext cx="44386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za struttur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6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4_Office Theme">
  <a:themeElements>
    <a:clrScheme name="Antracite Mondadori HubScuola">
      <a:dk1>
        <a:srgbClr val="000000"/>
      </a:dk1>
      <a:lt1>
        <a:srgbClr val="FFFFFF"/>
      </a:lt1>
      <a:dk2>
        <a:srgbClr val="A0A0A0"/>
      </a:dk2>
      <a:lt2>
        <a:srgbClr val="FFFFFF"/>
      </a:lt2>
      <a:accent1>
        <a:srgbClr val="3C3C3C"/>
      </a:accent1>
      <a:accent2>
        <a:srgbClr val="45CCCB"/>
      </a:accent2>
      <a:accent3>
        <a:srgbClr val="FE4F72"/>
      </a:accent3>
      <a:accent4>
        <a:srgbClr val="FDC326"/>
      </a:accent4>
      <a:accent5>
        <a:srgbClr val="78BA4B"/>
      </a:accent5>
      <a:accent6>
        <a:srgbClr val="FEFFFE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